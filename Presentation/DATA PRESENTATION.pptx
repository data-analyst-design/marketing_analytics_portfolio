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36BDF-259C-45BB-2971-15DD4495FE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8664A4-BD5D-2445-3381-04067A2A3D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B28019-9F18-4FCE-C2C4-4945F2713589}"/>
              </a:ext>
            </a:extLst>
          </p:cNvPr>
          <p:cNvSpPr>
            <a:spLocks noGrp="1"/>
          </p:cNvSpPr>
          <p:nvPr>
            <p:ph type="dt" sz="half" idx="10"/>
          </p:nvPr>
        </p:nvSpPr>
        <p:spPr/>
        <p:txBody>
          <a:bodyPr/>
          <a:lstStyle/>
          <a:p>
            <a:fld id="{10F0EF31-8562-4854-8BFD-79908273CBEC}" type="datetimeFigureOut">
              <a:rPr lang="en-US" smtClean="0"/>
              <a:t>8/5/2026</a:t>
            </a:fld>
            <a:endParaRPr lang="en-US"/>
          </a:p>
        </p:txBody>
      </p:sp>
      <p:sp>
        <p:nvSpPr>
          <p:cNvPr id="5" name="Footer Placeholder 4">
            <a:extLst>
              <a:ext uri="{FF2B5EF4-FFF2-40B4-BE49-F238E27FC236}">
                <a16:creationId xmlns:a16="http://schemas.microsoft.com/office/drawing/2014/main" id="{6B771918-8CD3-5E24-3DC1-40BAF70862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B90D67-66A4-113C-9671-1467604438F4}"/>
              </a:ext>
            </a:extLst>
          </p:cNvPr>
          <p:cNvSpPr>
            <a:spLocks noGrp="1"/>
          </p:cNvSpPr>
          <p:nvPr>
            <p:ph type="sldNum" sz="quarter" idx="12"/>
          </p:nvPr>
        </p:nvSpPr>
        <p:spPr/>
        <p:txBody>
          <a:bodyPr/>
          <a:lstStyle/>
          <a:p>
            <a:fld id="{2B7AB17F-AD67-4F37-B829-61510F697630}" type="slidenum">
              <a:rPr lang="en-US" smtClean="0"/>
              <a:t>‹#›</a:t>
            </a:fld>
            <a:endParaRPr lang="en-US"/>
          </a:p>
        </p:txBody>
      </p:sp>
    </p:spTree>
    <p:extLst>
      <p:ext uri="{BB962C8B-B14F-4D97-AF65-F5344CB8AC3E}">
        <p14:creationId xmlns:p14="http://schemas.microsoft.com/office/powerpoint/2010/main" val="2504265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299F8-12FB-8F3C-72E0-DE9C433AE4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4C436B-6024-3817-160F-A820E026BD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F8C5BE-061D-10F3-CC33-925BDB4841F6}"/>
              </a:ext>
            </a:extLst>
          </p:cNvPr>
          <p:cNvSpPr>
            <a:spLocks noGrp="1"/>
          </p:cNvSpPr>
          <p:nvPr>
            <p:ph type="dt" sz="half" idx="10"/>
          </p:nvPr>
        </p:nvSpPr>
        <p:spPr/>
        <p:txBody>
          <a:bodyPr/>
          <a:lstStyle/>
          <a:p>
            <a:fld id="{10F0EF31-8562-4854-8BFD-79908273CBEC}" type="datetimeFigureOut">
              <a:rPr lang="en-US" smtClean="0"/>
              <a:t>8/5/2026</a:t>
            </a:fld>
            <a:endParaRPr lang="en-US"/>
          </a:p>
        </p:txBody>
      </p:sp>
      <p:sp>
        <p:nvSpPr>
          <p:cNvPr id="5" name="Footer Placeholder 4">
            <a:extLst>
              <a:ext uri="{FF2B5EF4-FFF2-40B4-BE49-F238E27FC236}">
                <a16:creationId xmlns:a16="http://schemas.microsoft.com/office/drawing/2014/main" id="{047356C0-8DBE-04F3-780E-C6CE311001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E3EA83-5317-CD02-8873-DD5978DFC305}"/>
              </a:ext>
            </a:extLst>
          </p:cNvPr>
          <p:cNvSpPr>
            <a:spLocks noGrp="1"/>
          </p:cNvSpPr>
          <p:nvPr>
            <p:ph type="sldNum" sz="quarter" idx="12"/>
          </p:nvPr>
        </p:nvSpPr>
        <p:spPr/>
        <p:txBody>
          <a:bodyPr/>
          <a:lstStyle/>
          <a:p>
            <a:fld id="{2B7AB17F-AD67-4F37-B829-61510F697630}" type="slidenum">
              <a:rPr lang="en-US" smtClean="0"/>
              <a:t>‹#›</a:t>
            </a:fld>
            <a:endParaRPr lang="en-US"/>
          </a:p>
        </p:txBody>
      </p:sp>
    </p:spTree>
    <p:extLst>
      <p:ext uri="{BB962C8B-B14F-4D97-AF65-F5344CB8AC3E}">
        <p14:creationId xmlns:p14="http://schemas.microsoft.com/office/powerpoint/2010/main" val="3128979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0EF2C-B445-1471-D622-613A8BC0B1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97480D-8DC2-210B-95A2-61B99C3988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34DF51-1646-C214-9262-D7D6D7A51A88}"/>
              </a:ext>
            </a:extLst>
          </p:cNvPr>
          <p:cNvSpPr>
            <a:spLocks noGrp="1"/>
          </p:cNvSpPr>
          <p:nvPr>
            <p:ph type="dt" sz="half" idx="10"/>
          </p:nvPr>
        </p:nvSpPr>
        <p:spPr/>
        <p:txBody>
          <a:bodyPr/>
          <a:lstStyle/>
          <a:p>
            <a:fld id="{10F0EF31-8562-4854-8BFD-79908273CBEC}" type="datetimeFigureOut">
              <a:rPr lang="en-US" smtClean="0"/>
              <a:t>8/5/2026</a:t>
            </a:fld>
            <a:endParaRPr lang="en-US"/>
          </a:p>
        </p:txBody>
      </p:sp>
      <p:sp>
        <p:nvSpPr>
          <p:cNvPr id="5" name="Footer Placeholder 4">
            <a:extLst>
              <a:ext uri="{FF2B5EF4-FFF2-40B4-BE49-F238E27FC236}">
                <a16:creationId xmlns:a16="http://schemas.microsoft.com/office/drawing/2014/main" id="{BF9B255B-703B-FF77-3AD4-2DF981B294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6B2BB-12D2-1A54-28ED-8F5C73FCE7B6}"/>
              </a:ext>
            </a:extLst>
          </p:cNvPr>
          <p:cNvSpPr>
            <a:spLocks noGrp="1"/>
          </p:cNvSpPr>
          <p:nvPr>
            <p:ph type="sldNum" sz="quarter" idx="12"/>
          </p:nvPr>
        </p:nvSpPr>
        <p:spPr/>
        <p:txBody>
          <a:bodyPr/>
          <a:lstStyle/>
          <a:p>
            <a:fld id="{2B7AB17F-AD67-4F37-B829-61510F697630}" type="slidenum">
              <a:rPr lang="en-US" smtClean="0"/>
              <a:t>‹#›</a:t>
            </a:fld>
            <a:endParaRPr lang="en-US"/>
          </a:p>
        </p:txBody>
      </p:sp>
    </p:spTree>
    <p:extLst>
      <p:ext uri="{BB962C8B-B14F-4D97-AF65-F5344CB8AC3E}">
        <p14:creationId xmlns:p14="http://schemas.microsoft.com/office/powerpoint/2010/main" val="3456499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54571-8889-AF7A-3B0D-0F392FB994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7EC441-E971-FCBA-02F8-9C82A89FE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C4C592-CB01-B70D-E8FB-961FD25CDD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4289F2-80DA-1A46-9E07-99A2CBF06C7E}"/>
              </a:ext>
            </a:extLst>
          </p:cNvPr>
          <p:cNvSpPr>
            <a:spLocks noGrp="1"/>
          </p:cNvSpPr>
          <p:nvPr>
            <p:ph type="dt" sz="half" idx="10"/>
          </p:nvPr>
        </p:nvSpPr>
        <p:spPr/>
        <p:txBody>
          <a:bodyPr/>
          <a:lstStyle/>
          <a:p>
            <a:fld id="{10F0EF31-8562-4854-8BFD-79908273CBEC}" type="datetimeFigureOut">
              <a:rPr lang="en-US" smtClean="0"/>
              <a:t>8/5/2026</a:t>
            </a:fld>
            <a:endParaRPr lang="en-US"/>
          </a:p>
        </p:txBody>
      </p:sp>
      <p:sp>
        <p:nvSpPr>
          <p:cNvPr id="6" name="Footer Placeholder 5">
            <a:extLst>
              <a:ext uri="{FF2B5EF4-FFF2-40B4-BE49-F238E27FC236}">
                <a16:creationId xmlns:a16="http://schemas.microsoft.com/office/drawing/2014/main" id="{D7B4FAF9-039D-FF80-199E-4D11C466A6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EC6561-9DF2-C2AE-D840-4B43ED314F64}"/>
              </a:ext>
            </a:extLst>
          </p:cNvPr>
          <p:cNvSpPr>
            <a:spLocks noGrp="1"/>
          </p:cNvSpPr>
          <p:nvPr>
            <p:ph type="sldNum" sz="quarter" idx="12"/>
          </p:nvPr>
        </p:nvSpPr>
        <p:spPr/>
        <p:txBody>
          <a:bodyPr/>
          <a:lstStyle/>
          <a:p>
            <a:fld id="{2B7AB17F-AD67-4F37-B829-61510F697630}" type="slidenum">
              <a:rPr lang="en-US" smtClean="0"/>
              <a:t>‹#›</a:t>
            </a:fld>
            <a:endParaRPr lang="en-US"/>
          </a:p>
        </p:txBody>
      </p:sp>
    </p:spTree>
    <p:extLst>
      <p:ext uri="{BB962C8B-B14F-4D97-AF65-F5344CB8AC3E}">
        <p14:creationId xmlns:p14="http://schemas.microsoft.com/office/powerpoint/2010/main" val="3897717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D6C7E-8AF8-976C-7600-7861FAF950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3F391E-E11F-54C6-42F6-2A5F5BC783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735344-A461-12E8-702E-BE370146C5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BF1FA2-CB31-74A7-A11D-313CE9F3B2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C3310E-5037-03BF-9207-595CCF9409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8CFCD9-2A78-5A7F-2C66-05AAF0DD4C92}"/>
              </a:ext>
            </a:extLst>
          </p:cNvPr>
          <p:cNvSpPr>
            <a:spLocks noGrp="1"/>
          </p:cNvSpPr>
          <p:nvPr>
            <p:ph type="dt" sz="half" idx="10"/>
          </p:nvPr>
        </p:nvSpPr>
        <p:spPr/>
        <p:txBody>
          <a:bodyPr/>
          <a:lstStyle/>
          <a:p>
            <a:fld id="{10F0EF31-8562-4854-8BFD-79908273CBEC}" type="datetimeFigureOut">
              <a:rPr lang="en-US" smtClean="0"/>
              <a:t>8/5/2026</a:t>
            </a:fld>
            <a:endParaRPr lang="en-US"/>
          </a:p>
        </p:txBody>
      </p:sp>
      <p:sp>
        <p:nvSpPr>
          <p:cNvPr id="8" name="Footer Placeholder 7">
            <a:extLst>
              <a:ext uri="{FF2B5EF4-FFF2-40B4-BE49-F238E27FC236}">
                <a16:creationId xmlns:a16="http://schemas.microsoft.com/office/drawing/2014/main" id="{9E55318D-ADB5-5DA6-E76A-94B0F14CD10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CEA27D5-E662-08E5-5236-E84D859508F6}"/>
              </a:ext>
            </a:extLst>
          </p:cNvPr>
          <p:cNvSpPr>
            <a:spLocks noGrp="1"/>
          </p:cNvSpPr>
          <p:nvPr>
            <p:ph type="sldNum" sz="quarter" idx="12"/>
          </p:nvPr>
        </p:nvSpPr>
        <p:spPr/>
        <p:txBody>
          <a:bodyPr/>
          <a:lstStyle/>
          <a:p>
            <a:fld id="{2B7AB17F-AD67-4F37-B829-61510F697630}" type="slidenum">
              <a:rPr lang="en-US" smtClean="0"/>
              <a:t>‹#›</a:t>
            </a:fld>
            <a:endParaRPr lang="en-US"/>
          </a:p>
        </p:txBody>
      </p:sp>
    </p:spTree>
    <p:extLst>
      <p:ext uri="{BB962C8B-B14F-4D97-AF65-F5344CB8AC3E}">
        <p14:creationId xmlns:p14="http://schemas.microsoft.com/office/powerpoint/2010/main" val="2980829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131C-2938-F044-4310-C232F8ED4A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508FD1-F58C-E82D-2CDA-66ABEBF08DF4}"/>
              </a:ext>
            </a:extLst>
          </p:cNvPr>
          <p:cNvSpPr>
            <a:spLocks noGrp="1"/>
          </p:cNvSpPr>
          <p:nvPr>
            <p:ph type="dt" sz="half" idx="10"/>
          </p:nvPr>
        </p:nvSpPr>
        <p:spPr/>
        <p:txBody>
          <a:bodyPr/>
          <a:lstStyle/>
          <a:p>
            <a:fld id="{10F0EF31-8562-4854-8BFD-79908273CBEC}" type="datetimeFigureOut">
              <a:rPr lang="en-US" smtClean="0"/>
              <a:t>8/5/2026</a:t>
            </a:fld>
            <a:endParaRPr lang="en-US"/>
          </a:p>
        </p:txBody>
      </p:sp>
      <p:sp>
        <p:nvSpPr>
          <p:cNvPr id="4" name="Footer Placeholder 3">
            <a:extLst>
              <a:ext uri="{FF2B5EF4-FFF2-40B4-BE49-F238E27FC236}">
                <a16:creationId xmlns:a16="http://schemas.microsoft.com/office/drawing/2014/main" id="{4CD8000B-1AA5-2F2F-F861-A282EE8282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153F01-4ABB-7133-01A6-FEE7C0C7D2A6}"/>
              </a:ext>
            </a:extLst>
          </p:cNvPr>
          <p:cNvSpPr>
            <a:spLocks noGrp="1"/>
          </p:cNvSpPr>
          <p:nvPr>
            <p:ph type="sldNum" sz="quarter" idx="12"/>
          </p:nvPr>
        </p:nvSpPr>
        <p:spPr/>
        <p:txBody>
          <a:bodyPr/>
          <a:lstStyle/>
          <a:p>
            <a:fld id="{2B7AB17F-AD67-4F37-B829-61510F697630}" type="slidenum">
              <a:rPr lang="en-US" smtClean="0"/>
              <a:t>‹#›</a:t>
            </a:fld>
            <a:endParaRPr lang="en-US"/>
          </a:p>
        </p:txBody>
      </p:sp>
    </p:spTree>
    <p:extLst>
      <p:ext uri="{BB962C8B-B14F-4D97-AF65-F5344CB8AC3E}">
        <p14:creationId xmlns:p14="http://schemas.microsoft.com/office/powerpoint/2010/main" val="2039874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7F1EBE-CDF4-CF16-8145-9F8C04DB9ECB}"/>
              </a:ext>
            </a:extLst>
          </p:cNvPr>
          <p:cNvSpPr>
            <a:spLocks noGrp="1"/>
          </p:cNvSpPr>
          <p:nvPr>
            <p:ph type="dt" sz="half" idx="10"/>
          </p:nvPr>
        </p:nvSpPr>
        <p:spPr/>
        <p:txBody>
          <a:bodyPr/>
          <a:lstStyle/>
          <a:p>
            <a:fld id="{10F0EF31-8562-4854-8BFD-79908273CBEC}" type="datetimeFigureOut">
              <a:rPr lang="en-US" smtClean="0"/>
              <a:t>8/5/2026</a:t>
            </a:fld>
            <a:endParaRPr lang="en-US"/>
          </a:p>
        </p:txBody>
      </p:sp>
      <p:sp>
        <p:nvSpPr>
          <p:cNvPr id="3" name="Footer Placeholder 2">
            <a:extLst>
              <a:ext uri="{FF2B5EF4-FFF2-40B4-BE49-F238E27FC236}">
                <a16:creationId xmlns:a16="http://schemas.microsoft.com/office/drawing/2014/main" id="{BFD51C13-6F9E-169B-8A58-283E4CA4BB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AAFD56-DD20-B7AE-05D4-EDB45554ADDB}"/>
              </a:ext>
            </a:extLst>
          </p:cNvPr>
          <p:cNvSpPr>
            <a:spLocks noGrp="1"/>
          </p:cNvSpPr>
          <p:nvPr>
            <p:ph type="sldNum" sz="quarter" idx="12"/>
          </p:nvPr>
        </p:nvSpPr>
        <p:spPr/>
        <p:txBody>
          <a:bodyPr/>
          <a:lstStyle/>
          <a:p>
            <a:fld id="{2B7AB17F-AD67-4F37-B829-61510F697630}" type="slidenum">
              <a:rPr lang="en-US" smtClean="0"/>
              <a:t>‹#›</a:t>
            </a:fld>
            <a:endParaRPr lang="en-US"/>
          </a:p>
        </p:txBody>
      </p:sp>
    </p:spTree>
    <p:extLst>
      <p:ext uri="{BB962C8B-B14F-4D97-AF65-F5344CB8AC3E}">
        <p14:creationId xmlns:p14="http://schemas.microsoft.com/office/powerpoint/2010/main" val="202077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841CA-EAC8-6FD7-7567-73C772A825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F45A1A-8AF1-843E-50D1-0CA71A48A4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4D1132-AFB1-E65A-09D5-967DCAA71A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623159-F71F-50EA-097C-CF81CEB5D570}"/>
              </a:ext>
            </a:extLst>
          </p:cNvPr>
          <p:cNvSpPr>
            <a:spLocks noGrp="1"/>
          </p:cNvSpPr>
          <p:nvPr>
            <p:ph type="dt" sz="half" idx="10"/>
          </p:nvPr>
        </p:nvSpPr>
        <p:spPr/>
        <p:txBody>
          <a:bodyPr/>
          <a:lstStyle/>
          <a:p>
            <a:fld id="{10F0EF31-8562-4854-8BFD-79908273CBEC}" type="datetimeFigureOut">
              <a:rPr lang="en-US" smtClean="0"/>
              <a:t>8/5/2026</a:t>
            </a:fld>
            <a:endParaRPr lang="en-US"/>
          </a:p>
        </p:txBody>
      </p:sp>
      <p:sp>
        <p:nvSpPr>
          <p:cNvPr id="6" name="Footer Placeholder 5">
            <a:extLst>
              <a:ext uri="{FF2B5EF4-FFF2-40B4-BE49-F238E27FC236}">
                <a16:creationId xmlns:a16="http://schemas.microsoft.com/office/drawing/2014/main" id="{4120633C-0A5F-0CC5-9915-F995783A00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FDD715-C7C6-AA89-D641-C35CDFA442F4}"/>
              </a:ext>
            </a:extLst>
          </p:cNvPr>
          <p:cNvSpPr>
            <a:spLocks noGrp="1"/>
          </p:cNvSpPr>
          <p:nvPr>
            <p:ph type="sldNum" sz="quarter" idx="12"/>
          </p:nvPr>
        </p:nvSpPr>
        <p:spPr/>
        <p:txBody>
          <a:bodyPr/>
          <a:lstStyle/>
          <a:p>
            <a:fld id="{2B7AB17F-AD67-4F37-B829-61510F697630}" type="slidenum">
              <a:rPr lang="en-US" smtClean="0"/>
              <a:t>‹#›</a:t>
            </a:fld>
            <a:endParaRPr lang="en-US"/>
          </a:p>
        </p:txBody>
      </p:sp>
    </p:spTree>
    <p:extLst>
      <p:ext uri="{BB962C8B-B14F-4D97-AF65-F5344CB8AC3E}">
        <p14:creationId xmlns:p14="http://schemas.microsoft.com/office/powerpoint/2010/main" val="3500776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139A0-776B-6454-7A2C-32313CA47B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F20A6A-C5A8-DA2B-9172-E634DCCA8F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1BD846-1577-50FE-5369-6516C944DE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CAA289-CB1B-7B57-AA9A-2671BD01EC4E}"/>
              </a:ext>
            </a:extLst>
          </p:cNvPr>
          <p:cNvSpPr>
            <a:spLocks noGrp="1"/>
          </p:cNvSpPr>
          <p:nvPr>
            <p:ph type="dt" sz="half" idx="10"/>
          </p:nvPr>
        </p:nvSpPr>
        <p:spPr/>
        <p:txBody>
          <a:bodyPr/>
          <a:lstStyle/>
          <a:p>
            <a:fld id="{10F0EF31-8562-4854-8BFD-79908273CBEC}" type="datetimeFigureOut">
              <a:rPr lang="en-US" smtClean="0"/>
              <a:t>8/5/2026</a:t>
            </a:fld>
            <a:endParaRPr lang="en-US"/>
          </a:p>
        </p:txBody>
      </p:sp>
      <p:sp>
        <p:nvSpPr>
          <p:cNvPr id="6" name="Footer Placeholder 5">
            <a:extLst>
              <a:ext uri="{FF2B5EF4-FFF2-40B4-BE49-F238E27FC236}">
                <a16:creationId xmlns:a16="http://schemas.microsoft.com/office/drawing/2014/main" id="{B1B38BD3-FCBE-8687-FED0-6A036034CF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19E255-6999-B3FC-3F6B-919D7F6223B3}"/>
              </a:ext>
            </a:extLst>
          </p:cNvPr>
          <p:cNvSpPr>
            <a:spLocks noGrp="1"/>
          </p:cNvSpPr>
          <p:nvPr>
            <p:ph type="sldNum" sz="quarter" idx="12"/>
          </p:nvPr>
        </p:nvSpPr>
        <p:spPr/>
        <p:txBody>
          <a:bodyPr/>
          <a:lstStyle/>
          <a:p>
            <a:fld id="{2B7AB17F-AD67-4F37-B829-61510F697630}" type="slidenum">
              <a:rPr lang="en-US" smtClean="0"/>
              <a:t>‹#›</a:t>
            </a:fld>
            <a:endParaRPr lang="en-US"/>
          </a:p>
        </p:txBody>
      </p:sp>
    </p:spTree>
    <p:extLst>
      <p:ext uri="{BB962C8B-B14F-4D97-AF65-F5344CB8AC3E}">
        <p14:creationId xmlns:p14="http://schemas.microsoft.com/office/powerpoint/2010/main" val="2044824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2086A-1059-8AD7-9000-D8D4A18797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A8AFEB-5BA8-14D3-3F18-199C3F9976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96087A-E7F4-43EB-3F16-22EF0879BE42}"/>
              </a:ext>
            </a:extLst>
          </p:cNvPr>
          <p:cNvSpPr>
            <a:spLocks noGrp="1"/>
          </p:cNvSpPr>
          <p:nvPr>
            <p:ph type="dt" sz="half" idx="10"/>
          </p:nvPr>
        </p:nvSpPr>
        <p:spPr/>
        <p:txBody>
          <a:bodyPr/>
          <a:lstStyle/>
          <a:p>
            <a:fld id="{10F0EF31-8562-4854-8BFD-79908273CBEC}" type="datetimeFigureOut">
              <a:rPr lang="en-US" smtClean="0"/>
              <a:t>8/5/2026</a:t>
            </a:fld>
            <a:endParaRPr lang="en-US"/>
          </a:p>
        </p:txBody>
      </p:sp>
      <p:sp>
        <p:nvSpPr>
          <p:cNvPr id="5" name="Footer Placeholder 4">
            <a:extLst>
              <a:ext uri="{FF2B5EF4-FFF2-40B4-BE49-F238E27FC236}">
                <a16:creationId xmlns:a16="http://schemas.microsoft.com/office/drawing/2014/main" id="{B23508D9-BCA2-8D41-0467-568A9C6D6F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A44ECA-46AB-BBB7-67E7-7A9D7961744C}"/>
              </a:ext>
            </a:extLst>
          </p:cNvPr>
          <p:cNvSpPr>
            <a:spLocks noGrp="1"/>
          </p:cNvSpPr>
          <p:nvPr>
            <p:ph type="sldNum" sz="quarter" idx="12"/>
          </p:nvPr>
        </p:nvSpPr>
        <p:spPr/>
        <p:txBody>
          <a:bodyPr/>
          <a:lstStyle/>
          <a:p>
            <a:fld id="{2B7AB17F-AD67-4F37-B829-61510F697630}" type="slidenum">
              <a:rPr lang="en-US" smtClean="0"/>
              <a:t>‹#›</a:t>
            </a:fld>
            <a:endParaRPr lang="en-US"/>
          </a:p>
        </p:txBody>
      </p:sp>
    </p:spTree>
    <p:extLst>
      <p:ext uri="{BB962C8B-B14F-4D97-AF65-F5344CB8AC3E}">
        <p14:creationId xmlns:p14="http://schemas.microsoft.com/office/powerpoint/2010/main" val="98843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2E6A1A-7B6E-5147-1DEB-BE65942A68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720987-5260-5CC1-AEBF-D731DCA971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D5215C-F47E-62C2-0211-4A805D83417B}"/>
              </a:ext>
            </a:extLst>
          </p:cNvPr>
          <p:cNvSpPr>
            <a:spLocks noGrp="1"/>
          </p:cNvSpPr>
          <p:nvPr>
            <p:ph type="dt" sz="half" idx="10"/>
          </p:nvPr>
        </p:nvSpPr>
        <p:spPr/>
        <p:txBody>
          <a:bodyPr/>
          <a:lstStyle/>
          <a:p>
            <a:fld id="{10F0EF31-8562-4854-8BFD-79908273CBEC}" type="datetimeFigureOut">
              <a:rPr lang="en-US" smtClean="0"/>
              <a:t>8/5/2026</a:t>
            </a:fld>
            <a:endParaRPr lang="en-US"/>
          </a:p>
        </p:txBody>
      </p:sp>
      <p:sp>
        <p:nvSpPr>
          <p:cNvPr id="5" name="Footer Placeholder 4">
            <a:extLst>
              <a:ext uri="{FF2B5EF4-FFF2-40B4-BE49-F238E27FC236}">
                <a16:creationId xmlns:a16="http://schemas.microsoft.com/office/drawing/2014/main" id="{F76DDF97-5167-2F46-7F79-476E1CB32B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F5133-8B1A-78F4-15CC-599227477A54}"/>
              </a:ext>
            </a:extLst>
          </p:cNvPr>
          <p:cNvSpPr>
            <a:spLocks noGrp="1"/>
          </p:cNvSpPr>
          <p:nvPr>
            <p:ph type="sldNum" sz="quarter" idx="12"/>
          </p:nvPr>
        </p:nvSpPr>
        <p:spPr/>
        <p:txBody>
          <a:bodyPr/>
          <a:lstStyle/>
          <a:p>
            <a:fld id="{2B7AB17F-AD67-4F37-B829-61510F697630}" type="slidenum">
              <a:rPr lang="en-US" smtClean="0"/>
              <a:t>‹#›</a:t>
            </a:fld>
            <a:endParaRPr lang="en-US"/>
          </a:p>
        </p:txBody>
      </p:sp>
    </p:spTree>
    <p:extLst>
      <p:ext uri="{BB962C8B-B14F-4D97-AF65-F5344CB8AC3E}">
        <p14:creationId xmlns:p14="http://schemas.microsoft.com/office/powerpoint/2010/main" val="3820429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CAB4F3-EF61-3FA0-E4FE-52AC78FD98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E1F942-4B44-972B-5AD7-1971F081D3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C767E9-5439-107C-0202-5AB2F8B032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F0EF31-8562-4854-8BFD-79908273CBEC}" type="datetimeFigureOut">
              <a:rPr lang="en-US" smtClean="0"/>
              <a:t>8/5/2026</a:t>
            </a:fld>
            <a:endParaRPr lang="en-US"/>
          </a:p>
        </p:txBody>
      </p:sp>
      <p:sp>
        <p:nvSpPr>
          <p:cNvPr id="5" name="Footer Placeholder 4">
            <a:extLst>
              <a:ext uri="{FF2B5EF4-FFF2-40B4-BE49-F238E27FC236}">
                <a16:creationId xmlns:a16="http://schemas.microsoft.com/office/drawing/2014/main" id="{870F1D17-2758-8E58-4E99-9269B968E5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22D26E-2494-F132-F826-933054E574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7AB17F-AD67-4F37-B829-61510F697630}" type="slidenum">
              <a:rPr lang="en-US" smtClean="0"/>
              <a:t>‹#›</a:t>
            </a:fld>
            <a:endParaRPr lang="en-US"/>
          </a:p>
        </p:txBody>
      </p:sp>
    </p:spTree>
    <p:extLst>
      <p:ext uri="{BB962C8B-B14F-4D97-AF65-F5344CB8AC3E}">
        <p14:creationId xmlns:p14="http://schemas.microsoft.com/office/powerpoint/2010/main" val="980435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3AF5E-BEB2-C32E-82DB-9EEAFF067CBC}"/>
              </a:ext>
            </a:extLst>
          </p:cNvPr>
          <p:cNvSpPr>
            <a:spLocks noGrp="1"/>
          </p:cNvSpPr>
          <p:nvPr>
            <p:ph type="ctrTitle"/>
          </p:nvPr>
        </p:nvSpPr>
        <p:spPr/>
        <p:txBody>
          <a:bodyPr/>
          <a:lstStyle/>
          <a:p>
            <a:r>
              <a:rPr lang="en-US" b="1" dirty="0"/>
              <a:t>DATA PRESENTATION</a:t>
            </a:r>
          </a:p>
        </p:txBody>
      </p:sp>
      <p:sp>
        <p:nvSpPr>
          <p:cNvPr id="3" name="Subtitle 2">
            <a:extLst>
              <a:ext uri="{FF2B5EF4-FFF2-40B4-BE49-F238E27FC236}">
                <a16:creationId xmlns:a16="http://schemas.microsoft.com/office/drawing/2014/main" id="{430C843E-8E29-747D-F373-1A5B6B35F20C}"/>
              </a:ext>
            </a:extLst>
          </p:cNvPr>
          <p:cNvSpPr>
            <a:spLocks noGrp="1"/>
          </p:cNvSpPr>
          <p:nvPr>
            <p:ph type="subTitle" idx="1"/>
          </p:nvPr>
        </p:nvSpPr>
        <p:spPr/>
        <p:txBody>
          <a:bodyPr/>
          <a:lstStyle/>
          <a:p>
            <a:endParaRPr lang="en-US" dirty="0"/>
          </a:p>
          <a:p>
            <a:r>
              <a:rPr lang="en-US" sz="2800" b="1" dirty="0"/>
              <a:t>Marketing Analytics Portfolio Project</a:t>
            </a:r>
          </a:p>
        </p:txBody>
      </p:sp>
    </p:spTree>
    <p:extLst>
      <p:ext uri="{BB962C8B-B14F-4D97-AF65-F5344CB8AC3E}">
        <p14:creationId xmlns:p14="http://schemas.microsoft.com/office/powerpoint/2010/main" val="2230644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70AD3-0ABF-D0F5-421B-E22434266915}"/>
              </a:ext>
            </a:extLst>
          </p:cNvPr>
          <p:cNvSpPr>
            <a:spLocks noGrp="1"/>
          </p:cNvSpPr>
          <p:nvPr>
            <p:ph type="title"/>
          </p:nvPr>
        </p:nvSpPr>
        <p:spPr>
          <a:xfrm>
            <a:off x="838199" y="365126"/>
            <a:ext cx="11068665" cy="682136"/>
          </a:xfrm>
        </p:spPr>
        <p:txBody>
          <a:bodyPr>
            <a:normAutofit fontScale="90000"/>
          </a:bodyPr>
          <a:lstStyle/>
          <a:p>
            <a:r>
              <a:rPr lang="en-US" b="1" dirty="0"/>
              <a:t>Overview</a:t>
            </a:r>
          </a:p>
        </p:txBody>
      </p:sp>
      <p:sp>
        <p:nvSpPr>
          <p:cNvPr id="3" name="Content Placeholder 2">
            <a:extLst>
              <a:ext uri="{FF2B5EF4-FFF2-40B4-BE49-F238E27FC236}">
                <a16:creationId xmlns:a16="http://schemas.microsoft.com/office/drawing/2014/main" id="{C72EE666-2066-7CCC-E055-E1D311774301}"/>
              </a:ext>
            </a:extLst>
          </p:cNvPr>
          <p:cNvSpPr>
            <a:spLocks noGrp="1"/>
          </p:cNvSpPr>
          <p:nvPr>
            <p:ph idx="1"/>
          </p:nvPr>
        </p:nvSpPr>
        <p:spPr>
          <a:xfrm>
            <a:off x="717756" y="1047262"/>
            <a:ext cx="4424515" cy="5129701"/>
          </a:xfrm>
        </p:spPr>
        <p:txBody>
          <a:bodyPr>
            <a:normAutofit/>
          </a:bodyPr>
          <a:lstStyle/>
          <a:p>
            <a:r>
              <a:rPr lang="en-US" sz="1600" b="1" dirty="0"/>
              <a:t>Decreased Conversion Rates: </a:t>
            </a:r>
            <a:r>
              <a:rPr lang="en-US" sz="1300" dirty="0"/>
              <a:t>The Conversion Rate has been significantly reducing from 2023 which was 11.58% to 8.55% in 2025.</a:t>
            </a:r>
          </a:p>
          <a:p>
            <a:r>
              <a:rPr lang="en-US" sz="1600" b="1" dirty="0"/>
              <a:t>Reduced customer engagement: </a:t>
            </a:r>
          </a:p>
          <a:p>
            <a:pPr lvl="1"/>
            <a:r>
              <a:rPr lang="en-US" sz="1300" dirty="0"/>
              <a:t>There is a significant decline in overall social media engagement, with views decreasing throughout the year.</a:t>
            </a:r>
          </a:p>
          <a:p>
            <a:pPr lvl="1"/>
            <a:r>
              <a:rPr lang="en-US" sz="1300" dirty="0"/>
              <a:t>It’s also important to note that clicks and likes are significantly lower compared to views, with click-through-rate stands at 6.17% revealing low customer engagement.</a:t>
            </a:r>
          </a:p>
          <a:p>
            <a:r>
              <a:rPr lang="en-US" sz="1600" b="1" dirty="0"/>
              <a:t>Customer Feedback Analysis: </a:t>
            </a:r>
          </a:p>
          <a:p>
            <a:pPr lvl="1"/>
            <a:r>
              <a:rPr lang="en-US" sz="1300" dirty="0"/>
              <a:t>Customers rating have remained stable throughout the year, averaging around 3.66%.</a:t>
            </a:r>
          </a:p>
          <a:p>
            <a:pPr lvl="1"/>
            <a:r>
              <a:rPr lang="en-US" sz="1300" dirty="0"/>
              <a:t>Several products with an average rating below 3.5% suggest a need for improvement  in customer satisfaction. Football helmets had the least rating of 3.39% which aligns with its conversion rate of 2.76%.</a:t>
            </a:r>
          </a:p>
          <a:p>
            <a:pPr marL="0" indent="0">
              <a:buNone/>
            </a:pPr>
            <a:endParaRPr lang="en-US" sz="1600" dirty="0"/>
          </a:p>
          <a:p>
            <a:pPr marL="0" indent="0">
              <a:buNone/>
            </a:pPr>
            <a:endParaRPr lang="en-US" sz="2000" b="1" dirty="0"/>
          </a:p>
        </p:txBody>
      </p:sp>
      <p:pic>
        <p:nvPicPr>
          <p:cNvPr id="5" name="Picture 4">
            <a:extLst>
              <a:ext uri="{FF2B5EF4-FFF2-40B4-BE49-F238E27FC236}">
                <a16:creationId xmlns:a16="http://schemas.microsoft.com/office/drawing/2014/main" id="{8F8B342B-4512-0D95-A778-D4C5DFDC72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2271" y="1047263"/>
            <a:ext cx="6764594" cy="4893896"/>
          </a:xfrm>
          <a:prstGeom prst="rect">
            <a:avLst/>
          </a:prstGeom>
        </p:spPr>
      </p:pic>
    </p:spTree>
    <p:extLst>
      <p:ext uri="{BB962C8B-B14F-4D97-AF65-F5344CB8AC3E}">
        <p14:creationId xmlns:p14="http://schemas.microsoft.com/office/powerpoint/2010/main" val="24267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CFD33-F143-585D-A102-912BDC1DCC84}"/>
              </a:ext>
            </a:extLst>
          </p:cNvPr>
          <p:cNvSpPr>
            <a:spLocks noGrp="1"/>
          </p:cNvSpPr>
          <p:nvPr>
            <p:ph type="title"/>
          </p:nvPr>
        </p:nvSpPr>
        <p:spPr>
          <a:xfrm>
            <a:off x="838200" y="365125"/>
            <a:ext cx="10515600" cy="580537"/>
          </a:xfrm>
        </p:spPr>
        <p:txBody>
          <a:bodyPr>
            <a:normAutofit fontScale="90000"/>
          </a:bodyPr>
          <a:lstStyle/>
          <a:p>
            <a:r>
              <a:rPr lang="en-US" b="1" dirty="0"/>
              <a:t>Decreased Conversion Rate</a:t>
            </a:r>
          </a:p>
        </p:txBody>
      </p:sp>
      <p:sp>
        <p:nvSpPr>
          <p:cNvPr id="3" name="Content Placeholder 2">
            <a:extLst>
              <a:ext uri="{FF2B5EF4-FFF2-40B4-BE49-F238E27FC236}">
                <a16:creationId xmlns:a16="http://schemas.microsoft.com/office/drawing/2014/main" id="{FB2449F3-B923-3275-9A87-DDDCFD9B47AF}"/>
              </a:ext>
            </a:extLst>
          </p:cNvPr>
          <p:cNvSpPr>
            <a:spLocks noGrp="1"/>
          </p:cNvSpPr>
          <p:nvPr>
            <p:ph idx="1"/>
          </p:nvPr>
        </p:nvSpPr>
        <p:spPr>
          <a:xfrm>
            <a:off x="838200" y="1122642"/>
            <a:ext cx="4913670" cy="5231301"/>
          </a:xfrm>
        </p:spPr>
        <p:txBody>
          <a:bodyPr/>
          <a:lstStyle/>
          <a:p>
            <a:r>
              <a:rPr lang="en-US" sz="1800" b="1" dirty="0"/>
              <a:t>Conversion rate by month:</a:t>
            </a:r>
          </a:p>
          <a:p>
            <a:pPr lvl="1"/>
            <a:r>
              <a:rPr lang="en-US" sz="1400" dirty="0"/>
              <a:t>Conversion rate appears to be influenced by seasonality and marketing campaigns. In the last year, September, March and December significantly contributed to the average conversion rate, with conversion rates of 15.2%, 13% and 12.8% respectively. While July and October have lowest conversion rates of less than 5%.</a:t>
            </a:r>
          </a:p>
          <a:p>
            <a:endParaRPr lang="en-US" sz="1800" b="1" dirty="0"/>
          </a:p>
          <a:p>
            <a:r>
              <a:rPr lang="en-US" sz="1800" b="1" dirty="0"/>
              <a:t>Conversion rate by product name:</a:t>
            </a:r>
          </a:p>
          <a:p>
            <a:pPr lvl="1"/>
            <a:r>
              <a:rPr lang="en-US" sz="1400" dirty="0"/>
              <a:t>It is worth noting that most products that do well have their sales distributed across several months unlike those affected by seasonality. Hockey sticks and climbing ropes generated the most profits of above 20%.</a:t>
            </a:r>
          </a:p>
          <a:p>
            <a:pPr marL="457200" lvl="1" indent="0">
              <a:buNone/>
            </a:pPr>
            <a:endParaRPr lang="en-US" sz="1400" dirty="0"/>
          </a:p>
          <a:p>
            <a:r>
              <a:rPr lang="en-US" sz="1800" b="1" dirty="0">
                <a:solidFill>
                  <a:srgbClr val="000000"/>
                </a:solidFill>
              </a:rPr>
              <a:t>Conversion Funnel Analysis:</a:t>
            </a:r>
          </a:p>
          <a:p>
            <a:pPr lvl="1"/>
            <a:r>
              <a:rPr lang="en-US" sz="1400" dirty="0">
                <a:solidFill>
                  <a:srgbClr val="000000"/>
                </a:solidFill>
              </a:rPr>
              <a:t>The largest customer loss occurs between Click and Purchase stages suggesting many do not complete checkout.</a:t>
            </a:r>
          </a:p>
          <a:p>
            <a:pPr marL="0" indent="0">
              <a:buNone/>
            </a:pPr>
            <a:endParaRPr lang="en-US" sz="1800" dirty="0"/>
          </a:p>
        </p:txBody>
      </p:sp>
      <p:pic>
        <p:nvPicPr>
          <p:cNvPr id="9" name="Picture 8">
            <a:extLst>
              <a:ext uri="{FF2B5EF4-FFF2-40B4-BE49-F238E27FC236}">
                <a16:creationId xmlns:a16="http://schemas.microsoft.com/office/drawing/2014/main" id="{AC86D46B-4F14-9BB1-4636-E779F5CDB3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5585" y="945662"/>
            <a:ext cx="4758215" cy="2367809"/>
          </a:xfrm>
          <a:prstGeom prst="rect">
            <a:avLst/>
          </a:prstGeom>
        </p:spPr>
      </p:pic>
      <p:pic>
        <p:nvPicPr>
          <p:cNvPr id="11" name="Picture 10">
            <a:extLst>
              <a:ext uri="{FF2B5EF4-FFF2-40B4-BE49-F238E27FC236}">
                <a16:creationId xmlns:a16="http://schemas.microsoft.com/office/drawing/2014/main" id="{77E79CE6-A163-3580-181C-DEBD57AB4D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5585" y="3544530"/>
            <a:ext cx="4758214" cy="2561302"/>
          </a:xfrm>
          <a:prstGeom prst="rect">
            <a:avLst/>
          </a:prstGeom>
        </p:spPr>
      </p:pic>
    </p:spTree>
    <p:extLst>
      <p:ext uri="{BB962C8B-B14F-4D97-AF65-F5344CB8AC3E}">
        <p14:creationId xmlns:p14="http://schemas.microsoft.com/office/powerpoint/2010/main" val="1009223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E6C5C-7CF8-FA21-3978-9B6307DE9941}"/>
              </a:ext>
            </a:extLst>
          </p:cNvPr>
          <p:cNvSpPr>
            <a:spLocks noGrp="1"/>
          </p:cNvSpPr>
          <p:nvPr>
            <p:ph type="title"/>
          </p:nvPr>
        </p:nvSpPr>
        <p:spPr>
          <a:xfrm>
            <a:off x="838200" y="365125"/>
            <a:ext cx="10515600" cy="618101"/>
          </a:xfrm>
        </p:spPr>
        <p:txBody>
          <a:bodyPr>
            <a:normAutofit fontScale="90000"/>
          </a:bodyPr>
          <a:lstStyle/>
          <a:p>
            <a:r>
              <a:rPr lang="en-US" b="1" dirty="0"/>
              <a:t>Reduced customer engagement</a:t>
            </a:r>
            <a:endParaRPr lang="en-US" dirty="0"/>
          </a:p>
        </p:txBody>
      </p:sp>
      <p:sp>
        <p:nvSpPr>
          <p:cNvPr id="3" name="Content Placeholder 2">
            <a:extLst>
              <a:ext uri="{FF2B5EF4-FFF2-40B4-BE49-F238E27FC236}">
                <a16:creationId xmlns:a16="http://schemas.microsoft.com/office/drawing/2014/main" id="{137B90F7-B032-F860-8A2A-6919C72F1390}"/>
              </a:ext>
            </a:extLst>
          </p:cNvPr>
          <p:cNvSpPr>
            <a:spLocks noGrp="1"/>
          </p:cNvSpPr>
          <p:nvPr>
            <p:ph idx="1"/>
          </p:nvPr>
        </p:nvSpPr>
        <p:spPr>
          <a:xfrm>
            <a:off x="838200" y="1366684"/>
            <a:ext cx="6064045" cy="4810279"/>
          </a:xfrm>
        </p:spPr>
        <p:txBody>
          <a:bodyPr>
            <a:normAutofit/>
          </a:bodyPr>
          <a:lstStyle/>
          <a:p>
            <a:r>
              <a:rPr lang="en-US" sz="1800" b="1" dirty="0"/>
              <a:t>Lower Interaction Rates:</a:t>
            </a:r>
          </a:p>
          <a:p>
            <a:pPr lvl="1"/>
            <a:r>
              <a:rPr lang="en-US" sz="1400" dirty="0"/>
              <a:t>Millions of views annually suggests market campaigns have been successful in generating visibility, but user interaction still remains critically low, that is Clicks and Likes.</a:t>
            </a:r>
          </a:p>
          <a:p>
            <a:pPr lvl="1"/>
            <a:r>
              <a:rPr lang="en-US" sz="1400" dirty="0"/>
              <a:t>This suggests the need to create more engaging content and stronger call to actions.</a:t>
            </a:r>
          </a:p>
          <a:p>
            <a:pPr marL="457200" lvl="1" indent="0">
              <a:buNone/>
            </a:pPr>
            <a:endParaRPr lang="en-US" sz="1400" dirty="0"/>
          </a:p>
          <a:p>
            <a:r>
              <a:rPr lang="en-US" sz="1800" b="1" dirty="0"/>
              <a:t>Declining Views:</a:t>
            </a:r>
          </a:p>
          <a:p>
            <a:pPr lvl="1"/>
            <a:r>
              <a:rPr lang="en-US" sz="1400" dirty="0"/>
              <a:t>Views also declined steadily throughout the year especially later in the year indicating reduced customer engagement.</a:t>
            </a:r>
          </a:p>
          <a:p>
            <a:pPr marL="457200" lvl="1" indent="0">
              <a:buNone/>
            </a:pPr>
            <a:endParaRPr lang="en-US" sz="1400" dirty="0"/>
          </a:p>
          <a:p>
            <a:r>
              <a:rPr lang="en-US" sz="1800" b="1" dirty="0"/>
              <a:t>Content Type Performance:</a:t>
            </a:r>
          </a:p>
          <a:p>
            <a:pPr lvl="1"/>
            <a:r>
              <a:rPr lang="en-US" sz="1400" dirty="0"/>
              <a:t>Blog and social media content maintained steady engagement while video content performed inconsistently</a:t>
            </a:r>
          </a:p>
        </p:txBody>
      </p:sp>
      <p:pic>
        <p:nvPicPr>
          <p:cNvPr id="5" name="Picture 4">
            <a:extLst>
              <a:ext uri="{FF2B5EF4-FFF2-40B4-BE49-F238E27FC236}">
                <a16:creationId xmlns:a16="http://schemas.microsoft.com/office/drawing/2014/main" id="{B5F2D1BD-E928-D27D-0313-782D24BCE7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6209" y="1150374"/>
            <a:ext cx="3657598" cy="1935803"/>
          </a:xfrm>
          <a:prstGeom prst="rect">
            <a:avLst/>
          </a:prstGeom>
        </p:spPr>
      </p:pic>
      <p:pic>
        <p:nvPicPr>
          <p:cNvPr id="7" name="Picture 6">
            <a:extLst>
              <a:ext uri="{FF2B5EF4-FFF2-40B4-BE49-F238E27FC236}">
                <a16:creationId xmlns:a16="http://schemas.microsoft.com/office/drawing/2014/main" id="{0D316EC1-8CED-42A5-A956-B93A24B5C9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6208" y="3253325"/>
            <a:ext cx="3657598" cy="2454301"/>
          </a:xfrm>
          <a:prstGeom prst="rect">
            <a:avLst/>
          </a:prstGeom>
        </p:spPr>
      </p:pic>
    </p:spTree>
    <p:extLst>
      <p:ext uri="{BB962C8B-B14F-4D97-AF65-F5344CB8AC3E}">
        <p14:creationId xmlns:p14="http://schemas.microsoft.com/office/powerpoint/2010/main" val="1962777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DAFF8-4BA0-EA29-AD8E-E3FC19CFE3A7}"/>
              </a:ext>
            </a:extLst>
          </p:cNvPr>
          <p:cNvSpPr>
            <a:spLocks noGrp="1"/>
          </p:cNvSpPr>
          <p:nvPr>
            <p:ph type="title"/>
          </p:nvPr>
        </p:nvSpPr>
        <p:spPr>
          <a:xfrm>
            <a:off x="838200" y="365126"/>
            <a:ext cx="10515600" cy="568939"/>
          </a:xfrm>
        </p:spPr>
        <p:txBody>
          <a:bodyPr>
            <a:normAutofit fontScale="90000"/>
          </a:bodyPr>
          <a:lstStyle/>
          <a:p>
            <a:r>
              <a:rPr lang="en-US" b="1" dirty="0"/>
              <a:t>Customer feedback Analysis</a:t>
            </a:r>
          </a:p>
        </p:txBody>
      </p:sp>
      <p:sp>
        <p:nvSpPr>
          <p:cNvPr id="3" name="Content Placeholder 2">
            <a:extLst>
              <a:ext uri="{FF2B5EF4-FFF2-40B4-BE49-F238E27FC236}">
                <a16:creationId xmlns:a16="http://schemas.microsoft.com/office/drawing/2014/main" id="{A8E5FF50-D53B-24E1-7CE3-019A9B8D8ED0}"/>
              </a:ext>
            </a:extLst>
          </p:cNvPr>
          <p:cNvSpPr>
            <a:spLocks noGrp="1"/>
          </p:cNvSpPr>
          <p:nvPr>
            <p:ph idx="1"/>
          </p:nvPr>
        </p:nvSpPr>
        <p:spPr>
          <a:xfrm>
            <a:off x="838200" y="1235361"/>
            <a:ext cx="5149644" cy="5089086"/>
          </a:xfrm>
        </p:spPr>
        <p:txBody>
          <a:bodyPr>
            <a:normAutofit/>
          </a:bodyPr>
          <a:lstStyle/>
          <a:p>
            <a:r>
              <a:rPr lang="en-US" sz="1600" b="1" dirty="0"/>
              <a:t>Average rating:</a:t>
            </a:r>
          </a:p>
          <a:p>
            <a:pPr lvl="1"/>
            <a:r>
              <a:rPr lang="en-US" sz="1400" dirty="0"/>
              <a:t>The overall average rating has been consistent for the past three years averaging around 3.69%.</a:t>
            </a:r>
          </a:p>
          <a:p>
            <a:pPr lvl="1"/>
            <a:r>
              <a:rPr lang="en-US" sz="1400" dirty="0"/>
              <a:t>A positive rating of 61.22% was recorded in 2025 signifying that majority of the ratings were between 4 and 5.</a:t>
            </a:r>
          </a:p>
          <a:p>
            <a:pPr marL="457200" lvl="1" indent="0">
              <a:buNone/>
            </a:pPr>
            <a:endParaRPr lang="en-US" sz="1400" dirty="0"/>
          </a:p>
          <a:p>
            <a:r>
              <a:rPr lang="en-US" sz="1600" b="1" dirty="0"/>
              <a:t>Sentiment Classification:</a:t>
            </a:r>
          </a:p>
          <a:p>
            <a:pPr lvl="1"/>
            <a:r>
              <a:rPr lang="en-US" sz="1400" dirty="0"/>
              <a:t>Positive sentiments dominate at 292, reflecting a generally satisfied customer base.</a:t>
            </a:r>
          </a:p>
          <a:p>
            <a:pPr lvl="1"/>
            <a:r>
              <a:rPr lang="en-US" sz="1400" dirty="0"/>
              <a:t>Mixed Positive and mixed negative sentiments account for 41 and 56 reviews respectively presenting an opportunity to convert those sentiments to clearly positive ones</a:t>
            </a:r>
          </a:p>
          <a:p>
            <a:pPr lvl="1"/>
            <a:endParaRPr lang="en-US" sz="1200" dirty="0"/>
          </a:p>
          <a:p>
            <a:r>
              <a:rPr lang="en-US" sz="1600" b="1" dirty="0"/>
              <a:t>Product Reviews:</a:t>
            </a:r>
          </a:p>
          <a:p>
            <a:pPr lvl="1"/>
            <a:r>
              <a:rPr lang="en-US" sz="1400" dirty="0"/>
              <a:t>Overall, climbing ropes have the highest rating of 3.9% which aligns with its highest conversion rate.</a:t>
            </a:r>
          </a:p>
          <a:p>
            <a:pPr lvl="1"/>
            <a:r>
              <a:rPr lang="en-US" sz="1400" dirty="0"/>
              <a:t>On the other hand, Surfboards and Golf clubs have the highest negative reviews of 22% suggesting they should be prioritized for quality improvement.</a:t>
            </a:r>
          </a:p>
          <a:p>
            <a:pPr lvl="1"/>
            <a:endParaRPr lang="en-US" sz="1200" dirty="0"/>
          </a:p>
        </p:txBody>
      </p:sp>
      <p:pic>
        <p:nvPicPr>
          <p:cNvPr id="5" name="Picture 4">
            <a:extLst>
              <a:ext uri="{FF2B5EF4-FFF2-40B4-BE49-F238E27FC236}">
                <a16:creationId xmlns:a16="http://schemas.microsoft.com/office/drawing/2014/main" id="{3F40B42D-4DD0-F5C9-A5A3-92717F467D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3696" y="1087877"/>
            <a:ext cx="5520682" cy="1989620"/>
          </a:xfrm>
          <a:prstGeom prst="rect">
            <a:avLst/>
          </a:prstGeom>
        </p:spPr>
      </p:pic>
      <p:pic>
        <p:nvPicPr>
          <p:cNvPr id="9" name="Picture 8">
            <a:extLst>
              <a:ext uri="{FF2B5EF4-FFF2-40B4-BE49-F238E27FC236}">
                <a16:creationId xmlns:a16="http://schemas.microsoft.com/office/drawing/2014/main" id="{F74EE9FD-0B6E-45B2-715D-47111D1FBB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3694" y="3297677"/>
            <a:ext cx="5520683" cy="1989620"/>
          </a:xfrm>
          <a:prstGeom prst="rect">
            <a:avLst/>
          </a:prstGeom>
        </p:spPr>
      </p:pic>
    </p:spTree>
    <p:extLst>
      <p:ext uri="{BB962C8B-B14F-4D97-AF65-F5344CB8AC3E}">
        <p14:creationId xmlns:p14="http://schemas.microsoft.com/office/powerpoint/2010/main" val="2494661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B605-8364-F1F7-F4F7-A61A1249C9FF}"/>
              </a:ext>
            </a:extLst>
          </p:cNvPr>
          <p:cNvSpPr>
            <a:spLocks noGrp="1"/>
          </p:cNvSpPr>
          <p:nvPr>
            <p:ph type="title"/>
          </p:nvPr>
        </p:nvSpPr>
        <p:spPr>
          <a:xfrm>
            <a:off x="838200" y="365126"/>
            <a:ext cx="10515600" cy="824578"/>
          </a:xfrm>
        </p:spPr>
        <p:txBody>
          <a:bodyPr>
            <a:normAutofit/>
          </a:bodyPr>
          <a:lstStyle/>
          <a:p>
            <a:r>
              <a:rPr lang="en-US" sz="4000" b="1" dirty="0"/>
              <a:t>Strategic recommendations</a:t>
            </a:r>
          </a:p>
        </p:txBody>
      </p:sp>
      <p:sp>
        <p:nvSpPr>
          <p:cNvPr id="3" name="Content Placeholder 2">
            <a:extLst>
              <a:ext uri="{FF2B5EF4-FFF2-40B4-BE49-F238E27FC236}">
                <a16:creationId xmlns:a16="http://schemas.microsoft.com/office/drawing/2014/main" id="{BBA2F3E1-14BB-A16C-4BE0-350466AF21AA}"/>
              </a:ext>
            </a:extLst>
          </p:cNvPr>
          <p:cNvSpPr>
            <a:spLocks noGrp="1"/>
          </p:cNvSpPr>
          <p:nvPr>
            <p:ph idx="1"/>
          </p:nvPr>
        </p:nvSpPr>
        <p:spPr>
          <a:xfrm>
            <a:off x="838200" y="1449976"/>
            <a:ext cx="10515600" cy="4351338"/>
          </a:xfrm>
        </p:spPr>
        <p:txBody>
          <a:bodyPr>
            <a:normAutofit fontScale="92500" lnSpcReduction="20000"/>
          </a:bodyPr>
          <a:lstStyle/>
          <a:p>
            <a:pPr>
              <a:defRPr sz="2200"/>
            </a:pPr>
            <a:r>
              <a:rPr lang="en-US" b="1" dirty="0"/>
              <a:t>Increase Conversion</a:t>
            </a:r>
          </a:p>
          <a:p>
            <a:pPr lvl="1">
              <a:defRPr sz="2200"/>
            </a:pPr>
            <a:r>
              <a:rPr lang="en-US" sz="1700" dirty="0"/>
              <a:t>Improve low performing </a:t>
            </a:r>
            <a:r>
              <a:rPr lang="en-US" sz="1700"/>
              <a:t>product marketing by </a:t>
            </a:r>
            <a:r>
              <a:rPr lang="en-US" sz="1700" dirty="0"/>
              <a:t>implementing seasonal promotions or personalized campaigns during low performing months.</a:t>
            </a:r>
          </a:p>
          <a:p>
            <a:pPr lvl="1">
              <a:defRPr sz="2200"/>
            </a:pPr>
            <a:r>
              <a:rPr lang="en-US" sz="1700" dirty="0"/>
              <a:t>Simplify checkout and reduce friction during purchase because most visitors drop off between Click and Purchase stages.</a:t>
            </a:r>
          </a:p>
          <a:p>
            <a:pPr lvl="1">
              <a:defRPr sz="2200"/>
            </a:pPr>
            <a:r>
              <a:rPr lang="en-US" sz="1700" dirty="0"/>
              <a:t>Retarget visitors with abandoned carts.</a:t>
            </a:r>
          </a:p>
          <a:p>
            <a:pPr lvl="1">
              <a:defRPr sz="2200"/>
            </a:pPr>
            <a:r>
              <a:rPr lang="en-US" sz="1700" dirty="0"/>
              <a:t>Recreate successful campaigns for high converting products.</a:t>
            </a:r>
            <a:endParaRPr lang="en-US" dirty="0"/>
          </a:p>
          <a:p>
            <a:pPr>
              <a:defRPr sz="2200"/>
            </a:pPr>
            <a:r>
              <a:rPr lang="en-US" b="1" dirty="0"/>
              <a:t>Enhance Engagement</a:t>
            </a:r>
          </a:p>
          <a:p>
            <a:pPr lvl="1">
              <a:defRPr sz="2200"/>
            </a:pPr>
            <a:r>
              <a:rPr lang="en-US" sz="1700" dirty="0"/>
              <a:t>Invest more in high-performing content formats like blogs and social media.</a:t>
            </a:r>
          </a:p>
          <a:p>
            <a:pPr lvl="1">
              <a:defRPr sz="2200"/>
            </a:pPr>
            <a:r>
              <a:rPr lang="en-US" sz="1700" dirty="0"/>
              <a:t>Optimize calls-to-action placement in social media and blog contents.</a:t>
            </a:r>
          </a:p>
          <a:p>
            <a:pPr lvl="1">
              <a:defRPr sz="2200"/>
            </a:pPr>
            <a:r>
              <a:rPr lang="en-US" sz="1700" dirty="0"/>
              <a:t>Increase interactive campaigns by experimenting with more engaging content such as participating in </a:t>
            </a:r>
            <a:r>
              <a:rPr lang="en-US" sz="1700" dirty="0" err="1"/>
              <a:t>tiktok</a:t>
            </a:r>
            <a:r>
              <a:rPr lang="en-US" sz="1700" dirty="0"/>
              <a:t> trends or interactive reels.</a:t>
            </a:r>
            <a:endParaRPr lang="en-US" dirty="0"/>
          </a:p>
          <a:p>
            <a:pPr>
              <a:defRPr sz="2200"/>
            </a:pPr>
            <a:r>
              <a:rPr lang="en-US" b="1" dirty="0"/>
              <a:t>Improve Customer Satisfaction</a:t>
            </a:r>
          </a:p>
          <a:p>
            <a:pPr lvl="1">
              <a:defRPr sz="2200"/>
            </a:pPr>
            <a:r>
              <a:rPr lang="en-US" sz="1700" dirty="0"/>
              <a:t>Address mixed and negative feedback by analyzing common themes that emerge then develop improvement plans to address those concerns.</a:t>
            </a:r>
          </a:p>
          <a:p>
            <a:pPr lvl="1">
              <a:defRPr sz="2200"/>
            </a:pPr>
            <a:r>
              <a:rPr lang="en-US" sz="1700" dirty="0"/>
              <a:t>Follow up on dissatisfied customers to resolve their issues and encourage re-rating.</a:t>
            </a:r>
          </a:p>
          <a:p>
            <a:pPr lvl="1">
              <a:defRPr sz="2200"/>
            </a:pPr>
            <a:r>
              <a:rPr lang="en-US" sz="1700" dirty="0"/>
              <a:t>Address recurrent quality issues.</a:t>
            </a:r>
          </a:p>
          <a:p>
            <a:pPr lvl="1">
              <a:defRPr sz="2200"/>
            </a:pPr>
            <a:r>
              <a:rPr lang="en-US" sz="1700" dirty="0"/>
              <a:t>Continue monitoring customer sentiment.</a:t>
            </a:r>
          </a:p>
        </p:txBody>
      </p:sp>
    </p:spTree>
    <p:extLst>
      <p:ext uri="{BB962C8B-B14F-4D97-AF65-F5344CB8AC3E}">
        <p14:creationId xmlns:p14="http://schemas.microsoft.com/office/powerpoint/2010/main" val="3685431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5A4C-F562-27C2-BE4F-63540F96CAE9}"/>
              </a:ext>
            </a:extLst>
          </p:cNvPr>
          <p:cNvSpPr>
            <a:spLocks noGrp="1"/>
          </p:cNvSpPr>
          <p:nvPr>
            <p:ph type="title"/>
          </p:nvPr>
        </p:nvSpPr>
        <p:spPr>
          <a:xfrm>
            <a:off x="838200" y="365126"/>
            <a:ext cx="10515600" cy="1040888"/>
          </a:xfrm>
        </p:spPr>
        <p:txBody>
          <a:bodyPr>
            <a:normAutofit/>
          </a:bodyPr>
          <a:lstStyle/>
          <a:p>
            <a:r>
              <a:rPr lang="en-US" sz="4000" b="1" dirty="0"/>
              <a:t>Business Impact &amp; Next Steps</a:t>
            </a:r>
          </a:p>
        </p:txBody>
      </p:sp>
      <p:sp>
        <p:nvSpPr>
          <p:cNvPr id="3" name="Content Placeholder 2">
            <a:extLst>
              <a:ext uri="{FF2B5EF4-FFF2-40B4-BE49-F238E27FC236}">
                <a16:creationId xmlns:a16="http://schemas.microsoft.com/office/drawing/2014/main" id="{6E51A4D4-25A0-FBE6-36A9-42370D797F55}"/>
              </a:ext>
            </a:extLst>
          </p:cNvPr>
          <p:cNvSpPr>
            <a:spLocks noGrp="1"/>
          </p:cNvSpPr>
          <p:nvPr>
            <p:ph idx="1"/>
          </p:nvPr>
        </p:nvSpPr>
        <p:spPr>
          <a:xfrm>
            <a:off x="838200" y="1540489"/>
            <a:ext cx="10515600" cy="4351338"/>
          </a:xfrm>
        </p:spPr>
        <p:txBody>
          <a:bodyPr/>
          <a:lstStyle/>
          <a:p>
            <a:pPr>
              <a:defRPr sz="2200"/>
            </a:pPr>
            <a:r>
              <a:rPr lang="en-US" dirty="0"/>
              <a:t>If recommendations are implemented, the business can expect:</a:t>
            </a:r>
          </a:p>
          <a:p>
            <a:pPr lvl="1">
              <a:defRPr sz="2200"/>
            </a:pPr>
            <a:r>
              <a:rPr lang="en-US" sz="2000" dirty="0"/>
              <a:t>Higher conversion rates through reduced checkout abandonment.</a:t>
            </a:r>
          </a:p>
          <a:p>
            <a:pPr lvl="1">
              <a:defRPr sz="2200"/>
            </a:pPr>
            <a:r>
              <a:rPr lang="en-US" sz="2000" dirty="0"/>
              <a:t>Improved ROI by investing in the highest-performing marketing channels.</a:t>
            </a:r>
          </a:p>
          <a:p>
            <a:pPr lvl="1">
              <a:defRPr sz="2200"/>
            </a:pPr>
            <a:r>
              <a:rPr lang="en-US" sz="2000" dirty="0"/>
              <a:t>Increased customer loyalty through better product quality and customer experience.</a:t>
            </a:r>
          </a:p>
          <a:p>
            <a:pPr lvl="1">
              <a:defRPr sz="2200"/>
            </a:pPr>
            <a:r>
              <a:rPr lang="en-US" sz="2000" dirty="0"/>
              <a:t>Stronger data-driven decision-making by continuously monitoring KPIs and customer feedback.</a:t>
            </a:r>
          </a:p>
          <a:p>
            <a:endParaRPr lang="en-US" dirty="0"/>
          </a:p>
        </p:txBody>
      </p:sp>
    </p:spTree>
    <p:extLst>
      <p:ext uri="{BB962C8B-B14F-4D97-AF65-F5344CB8AC3E}">
        <p14:creationId xmlns:p14="http://schemas.microsoft.com/office/powerpoint/2010/main" val="28929127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954</TotalTime>
  <Words>675</Words>
  <Application>Microsoft Office PowerPoint</Application>
  <PresentationFormat>Widescreen</PresentationFormat>
  <Paragraphs>63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DATA PRESENTATION</vt:lpstr>
      <vt:lpstr>Overview</vt:lpstr>
      <vt:lpstr>Decreased Conversion Rate</vt:lpstr>
      <vt:lpstr>Reduced customer engagement</vt:lpstr>
      <vt:lpstr>Customer feedback Analysis</vt:lpstr>
      <vt:lpstr>Strategic recommendations</vt:lpstr>
      <vt:lpstr>Business Impact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Mercy Mwangi</dc:creator>
  <cp:lastModifiedBy>Mercy Mwangi</cp:lastModifiedBy>
  <cp:revision>32</cp:revision>
  <dcterms:created xsi:type="dcterms:W3CDTF">2026-06-24T09:07:38Z</dcterms:created>
  <dcterms:modified xsi:type="dcterms:W3CDTF">2026-08-05T20:58:46Z</dcterms:modified>
</cp:coreProperties>
</file>